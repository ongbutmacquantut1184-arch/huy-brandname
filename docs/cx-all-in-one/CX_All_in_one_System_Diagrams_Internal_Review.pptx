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163a1e079d4730" /><Relationship Type="http://schemas.openxmlformats.org/officeDocument/2006/relationships/extended-properties" Target="/docProps/app.xml" Id="R64a5232d3c1d403d" /><Relationship Type="http://schemas.openxmlformats.org/officeDocument/2006/relationships/officeDocument" Target="/ppt/presentation.xml" Id="R97135c1faa5142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4450c9691f4b33"/>
  </p:sldMasterIdLst>
  <p:notesMasterIdLst>
    <p:notesMasterId xmlns:r="http://schemas.openxmlformats.org/officeDocument/2006/relationships" r:id="Rf11667f3ecf34b64"/>
  </p:notesMasterIdLst>
  <p:sldIdLst>
    <p:sldId xmlns:r="http://schemas.openxmlformats.org/officeDocument/2006/relationships" id="256" r:id="Rf6cad39623e7432b"/>
    <p:sldId xmlns:r="http://schemas.openxmlformats.org/officeDocument/2006/relationships" id="257" r:id="R2f78fddf2e0a462a"/>
    <p:sldId xmlns:r="http://schemas.openxmlformats.org/officeDocument/2006/relationships" id="258" r:id="R08426413d2b94db0"/>
    <p:sldId xmlns:r="http://schemas.openxmlformats.org/officeDocument/2006/relationships" id="259" r:id="R3c56446aa5ab4fe1"/>
    <p:sldId xmlns:r="http://schemas.openxmlformats.org/officeDocument/2006/relationships" id="260" r:id="R61392285d432425c"/>
    <p:sldId xmlns:r="http://schemas.openxmlformats.org/officeDocument/2006/relationships" id="261" r:id="Red90f1d3c0a543af"/>
    <p:sldId xmlns:r="http://schemas.openxmlformats.org/officeDocument/2006/relationships" id="262" r:id="Re2e622bf63734712"/>
    <p:sldId xmlns:r="http://schemas.openxmlformats.org/officeDocument/2006/relationships" id="263" r:id="R1bcad927a794486b"/>
    <p:sldId xmlns:r="http://schemas.openxmlformats.org/officeDocument/2006/relationships" id="264" r:id="R044eed541ae14b1e"/>
    <p:sldId xmlns:r="http://schemas.openxmlformats.org/officeDocument/2006/relationships" id="265" r:id="R688f6792770a4a2e"/>
    <p:sldId xmlns:r="http://schemas.openxmlformats.org/officeDocument/2006/relationships" id="266" r:id="R36c362b1b56b4e3d"/>
    <p:sldId xmlns:r="http://schemas.openxmlformats.org/officeDocument/2006/relationships" id="267" r:id="R196212ee319945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d18516253b489f" /><Relationship Type="http://schemas.openxmlformats.org/officeDocument/2006/relationships/slideMaster" Target="/ppt/slideMasters/slideMaster1.xml" Id="R024450c9691f4b33" /><Relationship Type="http://schemas.openxmlformats.org/officeDocument/2006/relationships/notesMaster" Target="/ppt/notesMasters/notesMaster1.xml" Id="Rf11667f3ecf34b64" /><Relationship Type="http://schemas.openxmlformats.org/officeDocument/2006/relationships/presProps" Target="/ppt/presProps.xml" Id="Re8a26a29eb794566" /><Relationship Type="http://schemas.openxmlformats.org/officeDocument/2006/relationships/tableStyles" Target="/ppt/tableStyles.xml" Id="R87f2a17232ae44d8" /><Relationship Type="http://schemas.openxmlformats.org/officeDocument/2006/relationships/slide" Target="/ppt/slides/slide1.xml" Id="Rf6cad39623e7432b" /><Relationship Type="http://schemas.openxmlformats.org/officeDocument/2006/relationships/slide" Target="/ppt/slides/slide2.xml" Id="R2f78fddf2e0a462a" /><Relationship Type="http://schemas.openxmlformats.org/officeDocument/2006/relationships/slide" Target="/ppt/slides/slide3.xml" Id="R08426413d2b94db0" /><Relationship Type="http://schemas.openxmlformats.org/officeDocument/2006/relationships/slide" Target="/ppt/slides/slide4.xml" Id="R3c56446aa5ab4fe1" /><Relationship Type="http://schemas.openxmlformats.org/officeDocument/2006/relationships/slide" Target="/ppt/slides/slide5.xml" Id="R61392285d432425c" /><Relationship Type="http://schemas.openxmlformats.org/officeDocument/2006/relationships/slide" Target="/ppt/slides/slide6.xml" Id="Red90f1d3c0a543af" /><Relationship Type="http://schemas.openxmlformats.org/officeDocument/2006/relationships/slide" Target="/ppt/slides/slide7.xml" Id="Re2e622bf63734712" /><Relationship Type="http://schemas.openxmlformats.org/officeDocument/2006/relationships/slide" Target="/ppt/slides/slide8.xml" Id="R1bcad927a794486b" /><Relationship Type="http://schemas.openxmlformats.org/officeDocument/2006/relationships/slide" Target="/ppt/slides/slide9.xml" Id="R044eed541ae14b1e" /><Relationship Type="http://schemas.openxmlformats.org/officeDocument/2006/relationships/slide" Target="/ppt/slides/slide10.xml" Id="R688f6792770a4a2e" /><Relationship Type="http://schemas.openxmlformats.org/officeDocument/2006/relationships/slide" Target="/ppt/slides/slide11.xml" Id="R36c362b1b56b4e3d" /><Relationship Type="http://schemas.openxmlformats.org/officeDocument/2006/relationships/slide" Target="/ppt/slides/slide12.xml" Id="R196212ee319945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752f10a54441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X Review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X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0f0f9213b14dec" /><Relationship Type="http://schemas.openxmlformats.org/officeDocument/2006/relationships/notesMaster" Target="/ppt/notesMasters/notesMaster1.xml" Id="R4cabfbc3592b48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a3433a049b41e3" /><Relationship Type="http://schemas.openxmlformats.org/officeDocument/2006/relationships/notesMaster" Target="/ppt/notesMasters/notesMaster1.xml" Id="R04821a4659df48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969e1de47145d8" /><Relationship Type="http://schemas.openxmlformats.org/officeDocument/2006/relationships/notesMaster" Target="/ppt/notesMasters/notesMaster1.xml" Id="R241cdfb386a043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83816dc8e941e6" /><Relationship Type="http://schemas.openxmlformats.org/officeDocument/2006/relationships/notesMaster" Target="/ppt/notesMasters/notesMaster1.xml" Id="Rbf755a918fc944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b010d662674dab" /><Relationship Type="http://schemas.openxmlformats.org/officeDocument/2006/relationships/notesMaster" Target="/ppt/notesMasters/notesMaster1.xml" Id="Rab34554941db41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703eb57ed54940" /><Relationship Type="http://schemas.openxmlformats.org/officeDocument/2006/relationships/notesMaster" Target="/ppt/notesMasters/notesMaster1.xml" Id="Rc000018745a24d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84ba4c00654b4e" /><Relationship Type="http://schemas.openxmlformats.org/officeDocument/2006/relationships/notesMaster" Target="/ppt/notesMasters/notesMaster1.xml" Id="R4180e2a323d24a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5ad5be63f412c" /><Relationship Type="http://schemas.openxmlformats.org/officeDocument/2006/relationships/notesMaster" Target="/ppt/notesMasters/notesMaster1.xml" Id="R6cc09f84762247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4077507d6f345c1" /><Relationship Type="http://schemas.openxmlformats.org/officeDocument/2006/relationships/notesMaster" Target="/ppt/notesMasters/notesMaster1.xml" Id="R34a6ea806fc04c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b0df5d8eb24f3b" /><Relationship Type="http://schemas.openxmlformats.org/officeDocument/2006/relationships/notesMaster" Target="/ppt/notesMasters/notesMaster1.xml" Id="R8c26eedf089a4a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6ce48c9ff347a0" /><Relationship Type="http://schemas.openxmlformats.org/officeDocument/2006/relationships/notesMaster" Target="/ppt/notesMasters/notesMaster1.xml" Id="R08bab7d0634e4f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8a2bf8ea854cf8" /><Relationship Type="http://schemas.openxmlformats.org/officeDocument/2006/relationships/notesMaster" Target="/ppt/notesMasters/notesMaster1.xml" Id="Rf8233ed0aab948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docs/cx-all-in-one/cx-all-in-one-system-diagrams.md</a:t>
            </a:r>
          </a:p>
          <a:p xmlns:a="http://schemas.openxmlformats.org/drawingml/2006/main">
            <a:r>
              <a:t>docs/cx-service-term-dashboard-update-plan.md</a:t>
            </a:r>
          </a:p>
          <a:p xmlns:a="http://schemas.openxmlformats.org/drawingml/2006/main">
            <a:r>
              <a:t>docs/cx-dashboard-overview-metrics-recommendation.md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docs/cx-all-in-one/cx-all-in-one-system-diagrams.md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docs/cx-all-in-one/cx-all-in-one-system-diagrams.md</a:t>
            </a:r>
          </a:p>
          <a:p xmlns:a="http://schemas.openxmlformats.org/drawingml/2006/main">
            <a:r>
              <a:t>src/lib/cx-actions.ts</a:t>
            </a:r>
          </a:p>
          <a:p xmlns:a="http://schemas.openxmlformats.org/drawingml/2006/main">
            <a:r>
              <a:t>schema.sql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docs/cx-all-in-one/cx-all-in-one-system-diagrams.md</a:t>
            </a:r>
          </a:p>
          <a:p xmlns:a="http://schemas.openxmlformats.org/drawingml/2006/main">
            <a:r>
              <a:t>src/lib/cx-actions.ts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docs/cx-service-term-dashboard-update-plan.md</a:t>
            </a:r>
          </a:p>
          <a:p xmlns:a="http://schemas.openxmlformats.org/drawingml/2006/main">
            <a:r>
              <a:t>src/lib/cx-actions.ts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docs/cx-dashboard-overview-metrics-recommendation.md</a:t>
            </a:r>
          </a:p>
          <a:p xmlns:a="http://schemas.openxmlformats.org/drawingml/2006/main">
            <a:r>
              <a:t>docs/cx-service-term-dashboard-update-plan.md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docs/cx-all-in-one/cx-all-in-one-system-diagrams.md</a:t>
            </a:r>
          </a:p>
          <a:p xmlns:a="http://schemas.openxmlformats.org/drawingml/2006/main">
            <a:r>
              <a:t>schema.sql</a:t>
            </a:r>
          </a:p>
          <a:p xmlns:a="http://schemas.openxmlformats.org/drawingml/2006/main">
            <a:r>
              <a:t>src/app/api/cancellations/**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docs/cx-all-in-one/srs/cx-all-in-one-states.md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schema.sql</a:t>
            </a:r>
          </a:p>
          <a:p xmlns:a="http://schemas.openxmlformats.org/drawingml/2006/main">
            <a:r>
              <a:t>docs/cx-service-term-dashboard-update-plan.md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docs/cx-all-in-one/d2-architect/system-architecture.d2</a:t>
            </a:r>
          </a:p>
          <a:p xmlns:a="http://schemas.openxmlformats.org/drawingml/2006/main">
            <a:r>
              <a:t>src/app/api/cron/auto-renew/**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docs/cx-service-term-dashboard-update-plan.md</a:t>
            </a:r>
          </a:p>
          <a:p xmlns:a="http://schemas.openxmlformats.org/drawingml/2006/main">
            <a:r>
              <a:t>docs/cx-dashboard-overview-metrics-recommendation.md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docs/cx-all-in-one/cx-all-in-one-system-diagrams.md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b98bef15544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47133457af49d3" /><Relationship Type="http://schemas.openxmlformats.org/officeDocument/2006/relationships/slideLayout" Target="/ppt/slideLayouts/slideLayout1.xml" Id="R8ed932a2810442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d932a2810442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X Review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X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2ac6c86c84565" /><Relationship Type="http://schemas.openxmlformats.org/officeDocument/2006/relationships/notesSlide" Target="/ppt/notesSlides/notesSlide1.xml" Id="Rdf949782e85d49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9ebbb395440d1" /><Relationship Type="http://schemas.openxmlformats.org/officeDocument/2006/relationships/notesSlide" Target="/ppt/notesSlides/notesSlide2.xml" Id="R10eab081fa6143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484f174d9d4433" /><Relationship Type="http://schemas.openxmlformats.org/officeDocument/2006/relationships/notesSlide" Target="/ppt/notesSlides/notesSlide3.xml" Id="Re1611f3893bf4c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f443d98744a7a" /><Relationship Type="http://schemas.openxmlformats.org/officeDocument/2006/relationships/notesSlide" Target="/ppt/notesSlides/notesSlide4.xml" Id="R63fda57bc42044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12d9f4f8c4d55" /><Relationship Type="http://schemas.openxmlformats.org/officeDocument/2006/relationships/notesSlide" Target="/ppt/notesSlides/notesSlide5.xml" Id="R2c7acd3b8b7f49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4177f909f47df" /><Relationship Type="http://schemas.openxmlformats.org/officeDocument/2006/relationships/notesSlide" Target="/ppt/notesSlides/notesSlide6.xml" Id="Redf55fc940a342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30fafff6f43c9" /><Relationship Type="http://schemas.openxmlformats.org/officeDocument/2006/relationships/notesSlide" Target="/ppt/notesSlides/notesSlide7.xml" Id="R74774867824244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242d9344a4f6c" /><Relationship Type="http://schemas.openxmlformats.org/officeDocument/2006/relationships/notesSlide" Target="/ppt/notesSlides/notesSlide8.xml" Id="R0171c0b10fc940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c379c766f4385" /><Relationship Type="http://schemas.openxmlformats.org/officeDocument/2006/relationships/notesSlide" Target="/ppt/notesSlides/notesSlide9.xml" Id="R6628297dd6a749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6addfa04f4372" /><Relationship Type="http://schemas.openxmlformats.org/officeDocument/2006/relationships/notesSlide" Target="/ppt/notesSlides/notesSlide10.xml" Id="R46e20a533ac341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dcd684f5f47f1" /><Relationship Type="http://schemas.openxmlformats.org/officeDocument/2006/relationships/notesSlide" Target="/ppt/notesSlides/notesSlide11.xml" Id="Re30f67399b4e47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1d7370b36437f" /><Relationship Type="http://schemas.openxmlformats.org/officeDocument/2006/relationships/notesSlide" Target="/ppt/notesSlides/notesSlide12.xml" Id="R83cfb1d36be541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4DBFA-BE50-42FA-991B-00258C6B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F172A"/>
                </a:solidFill>
              </a:defRPr>
            </a:pPr>
            <a:r>
              <a:rPr sz="3450" b="1">
                <a:solidFill>
                  <a:srgbClr val="0F172A"/>
                </a:solidFill>
              </a:rPr>
              <a:t>CX All-in-one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0E67F-C2F1-404A-BEEC-6CB07B14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19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Bản trình chiếu hệ thống để review nội bộ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930F8D-4F52-40DE-92FF-3C2F10D9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Tổng hợp từ tài liệu BA, schema, server actions và các màn hình/API hiện hữu.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2E280-0D2E-46DB-8A9A-0AE71DAE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7147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Mục tiêu buổi review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Chốt luồng vận hành, trạng thái nghiệp vụ, dữ liệu cần theo dõi và các điểm còn mở trước khi triển khai/kiểm thử.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7438A-F067-4747-87E8-9108BFD6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81350"/>
            <a:ext cx="3714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Định dạng bàn giao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File PPTX có thể trình chiếu trực tiếp và chỉnh sửa trong PowerPoint.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6D671-32E9-4A49-8BDB-01259BB2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16DD6-5962-4FA5-A340-F1D504FF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58344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B27EF-B32F-4392-A635-E502D9E6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32925-3535-4940-B7D9-2EFE95B9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Một bản review, đủ góc nhìn hệ thống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F4696-88BD-416F-B214-977FE178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Deck này không thay thế tài liệu BA chi tiết; mục tiêu là giúp các bên cùng nhìn một bản đồ chung.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2E3510-EDDB-4DB0-B2BA-D3CE5EA0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4D2A8-23F5-4839-8803-97EC786E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46E230-DA88-4868-8D0E-575F9C49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14325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Luồng nghiệp vụ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Sale tạo phiếu, CS kích hoạt, SUP hoàn thiện dịch vụ, gia hạn, hủy brandname và báo cáo provider.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3AA71-40AE-42A4-A31C-940C4952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314325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State nghiệp vụ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Phiếu Sale, khách hàng, hợp đồng, dịch vụ và phiếu hủy brandname.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02614-9F2F-401C-A612-CC37A95A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33625"/>
            <a:ext cx="3143250" cy="1714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Dữ liệu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CX customer, contract, service, cancellation, provider, activity log và cấu hình hệ thống.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6CD9B-BB12-42C2-8902-AEE556D4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65722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Kiến trúc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Next.js app, server actions, API routes, Supabase, cron scheduler và Google Sheets sync.</a:t>
            </a:r>
          </a:p>
        </p:txBody>
      </p:sp>
    </p:spTree>
    <p:extLst>
      <p:ext uri="{BB962C8B-B14F-4D97-AF65-F5344CB8AC3E}">
        <p14:creationId xmlns:p14="http://schemas.microsoft.com/office/powerpoint/2010/main" val="1250383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2ADF5F-1F96-44B1-A9D2-75BA4CE2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TOÀN CẢNH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4D0D8-A184-4EA4-8D2B-1F276406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Bản đồ nghiệp vụ tổng thể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017AF-F7C8-47A1-B5EB-A5826DD7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Luồng chính đi từ yêu cầu Sale đến vận hành dịch vụ, dashboard, gia hạn và hủy brandname.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EF6AB-C60F-41D9-877D-CE873547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40EC0-8C0A-480A-B785-23C8D159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C6516-0C20-4E10-8177-10DA4613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28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Sale tạo phiếu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29DE9-E821-4A54-9D10-435A667C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81250"/>
            <a:ext cx="1428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CS kích hoạt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71997-0630-43E5-9C7D-843C2046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1428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Khách hàng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Hợp đồng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86FAF-116A-49F4-9DAA-85511663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1428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Dịch vụ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Pending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AC7FE-9488-418B-8B43-F34DBE09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1428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SUP hoàn thiện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1C8702-F8A0-421A-AE16-C67FB503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428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Dịch vụ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Active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190750" y="2724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886200" y="2724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581650" y="2724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77100" y="2724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972550" y="27241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4E205B-AF55-40D4-8C7D-90463E6B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95750"/>
            <a:ext cx="22860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Dashboard điều hành CX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01DE59-DE96-40F6-82E9-7B99698C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24765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Hủy brandname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và báo cáo provider</a:t>
            </a:r>
          </a:p>
        </p:txBody>
      </p:sp>
      <p:cxnSp>
        <p:nvCxnSpPr>
          <p:cNvPr id="40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4800600" y="3067050"/>
            <a:ext cx="515302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18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5943600" y="44672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B4812-1334-4111-8EC5-53802F00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Điểm kiểm tra: trạng thái dịch vụ và hạn hiệu lực phải thống nhất giữa hợp đồng, gói dịch vụ và dashboard.</a:t>
            </a:r>
          </a:p>
        </p:txBody>
      </p:sp>
    </p:spTree>
    <p:extLst>
      <p:ext uri="{BB962C8B-B14F-4D97-AF65-F5344CB8AC3E}">
        <p14:creationId xmlns:p14="http://schemas.microsoft.com/office/powerpoint/2010/main" val="11158835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F0A11-D0D5-40A8-A47E-B8BD6264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LUỒNG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CEBF2-331E-4AA7-B00F-14E97AC4D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Sale tạo phiếu và CS kích hoạt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EFDA30-0CFB-44A4-ABC0-5F91FB7E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Phiếu Sale là điểm vào; CS bổ sung thông tin vận hành để tạo customer, contract và service Pending.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77323-B667-49DE-8E18-11800896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F0A1B-350F-48C7-B8F9-44385C7B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C3319-2E58-46E1-A714-C5600B71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0EBE1-53D3-4BE6-8395-1EF0B919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967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Sale nhập thông tin khách hàng, kênh dịch vụ và ngày hiệu lực.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5F611-2A08-48AC-8890-C0838501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99CEE-1F2D-4E56-BCC8-238CA2FA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33675"/>
            <a:ext cx="967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Hệ thống tạo `cx_requests`; `result_customer_id` để trống cho đến khi kích hoạt.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DD8AC-39AC-4160-8341-18E4040B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F6EF5-9140-419F-8D85-D8663EE5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7550"/>
            <a:ext cx="967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CS tìm phiếu, bổ sung tài khoản, Org ID, CS phụ trách và SUP phụ trách.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B3824-C7B6-45D3-883E-F25FEE02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57F85-F837-4D04-B6E6-369AD8A9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967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Khi kích hoạt, hệ thống tạo customer, contract, các service Pending và log ACTIVATE.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362D8-343B-4A16-B7BE-5ED016D4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62500"/>
            <a:ext cx="371475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Điểm cần review</a:t>
            </a:r>
          </a:p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Cơ chế chống kích hoạt lại phiếu đã tạo customer; rule bắt buộc trước khi chuyển dịch vụ sang Active.</a:t>
            </a:r>
          </a:p>
        </p:txBody>
      </p:sp>
    </p:spTree>
    <p:extLst>
      <p:ext uri="{BB962C8B-B14F-4D97-AF65-F5344CB8AC3E}">
        <p14:creationId xmlns:p14="http://schemas.microsoft.com/office/powerpoint/2010/main" val="1534831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B9471-9BB7-4B5E-ACDF-AA052F9A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LUỒNG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259C8A-EF56-45E3-B234-D635A726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Quản lý dịch vụ và gia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AC150-9B26-474A-B0A4-374B3534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SUP quản trị dịch vụ; CS/SUP phối hợp gia hạn hợp đồng hoặc gia hạn riêng dịch vụ.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B3EE5-2BE0-4973-8F0F-DB6C06FF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02E39-7383-4E97-8693-F8433A5B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2D702-EFD6-4EC6-88C4-AE10569A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3143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Tạo/Sửa dịch vụ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Lưu channel, usage_method, package_type, term_type, ngày gói và thông tin brand/CP.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202BB-FA49-4CB5-890C-D60FDD0C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143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Gia hạn hợp đồng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Tạo hợp đồng mới, clone dịch vụ từ hợp đồng cũ, chuyển hợp đồng cũ sang Expired.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303A95-56CC-438D-AC30-9A875AFB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143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Gia hạn riêng dịch vụ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Cập nhật ngày bắt đầu, ngày hết hạn và chuyển service sang Active nếu phù hợp.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50F5F-E051-4343-99C3-CC7EB34E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Rule BA trọng tâm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05ACE-C353-406D-8582-CD2B5A50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Khung hiệu lực chính là hợp đồng. Gói/dịch vụ vượt hạn hợp đồng phải được cảnh báo để đội vận hành xử lý trước khi dữ liệu dashboard bị lệch.</a:t>
            </a:r>
          </a:p>
        </p:txBody>
      </p:sp>
    </p:spTree>
    <p:extLst>
      <p:ext uri="{BB962C8B-B14F-4D97-AF65-F5344CB8AC3E}">
        <p14:creationId xmlns:p14="http://schemas.microsoft.com/office/powerpoint/2010/main" val="1393716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50634-1AF6-4AF9-8FA1-C49AB696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8CF90-6AB2-4C33-B8DD-E0F080BC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Dashboard điều hành CX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061C2-FD43-4FB3-9B64-0E388634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Dashboard tổng hợp theo customer, contract và service để hỗ trợ quản lý vận hành.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96871-F9F1-461A-9E0D-1E8D88CD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FD452-8435-4A08-A4B0-CE407FEB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AE4AC-2EB0-4AEA-B2D0-A295F617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8575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Scorecard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Tổng khách hàng, dịch vụ, hợp đồng active, cảnh báo sắp hết hạn và lỗi dữ liệu.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2D3A8-7017-462B-8A68-3EDD13D8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90750"/>
            <a:ext cx="28575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Phân rã quản lý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Theo channel, trạng thái, CS phụ trách, SUP phụ trách, template và workload.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53A28-FCAD-470F-91A4-279442EE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314325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Drill-down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Mở danh sách liên quan hoặc Customer 360 để xem customer, contract, service, request và cancel log.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8987E-F837-44BD-BDC2-C04448EA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914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Không dùng số liệu giả trong dashboard. Nếu thiếu dữ liệu nguồn, hiển thị cảnh báo chất lượng dữ liệu thay vì tự suy diễn.</a:t>
            </a:r>
          </a:p>
        </p:txBody>
      </p:sp>
    </p:spTree>
    <p:extLst>
      <p:ext uri="{BB962C8B-B14F-4D97-AF65-F5344CB8AC3E}">
        <p14:creationId xmlns:p14="http://schemas.microsoft.com/office/powerpoint/2010/main" val="1651055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DB59F-71E4-4881-B650-E36262FD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HỦY BRANDNAME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74297-6D85-4624-9822-BB1A1460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Hủy brandname và báo cáo provider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410D5-874A-4728-B4DC-F8F1B4DE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Module hủy brandname chạy song song với CX nhưng có tác động trực tiếp đến trạng thái service.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36579-28B0-4A24-9AE9-77CF73D9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F96C5-88C3-465D-ADC4-66B9AC0B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5EA17-D1FF-4E76-87AE-2FFD9E7B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1809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Nhập phiếu hủy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304AD-5665-4C46-B422-7C5713BD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81250"/>
            <a:ext cx="1809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Kiểm tra overlap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28634-7989-439D-BE17-59DF0882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81250"/>
            <a:ext cx="2000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Lưu cancellation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2B7A9-9E05-4D5A-82C3-522F9C91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81250"/>
            <a:ext cx="1809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Match brand + CP</a:t>
            </a:r>
          </a:p>
        </p:txBody>
      </p: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14650" y="27527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257800" y="2752725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791450" y="27527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BA953-5B9B-4238-A481-FEFD14B5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95750"/>
            <a:ext cx="40957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Tác động sang CX</a:t>
            </a:r>
          </a:p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Nếu brand và CP khớp service, hệ thống cập nhật `cx_services` sang Cancelled và ghi log CANCEL_SERVICE.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8D29D-6380-4151-B92A-AF333931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40957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Đầu ra vận hành</a:t>
            </a:r>
          </a:p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Báo cáo theo tháng/provider và đồng bộ Google Sheets khi cấu hình Apps Script sẵn sàng.</a:t>
            </a:r>
          </a:p>
        </p:txBody>
      </p:sp>
    </p:spTree>
    <p:extLst>
      <p:ext uri="{BB962C8B-B14F-4D97-AF65-F5344CB8AC3E}">
        <p14:creationId xmlns:p14="http://schemas.microsoft.com/office/powerpoint/2010/main" val="1797656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E0ABED-A3E0-4A2E-9CC6-7ABE2256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0C4AC-5EF2-4A1C-B897-3DCC9E1F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Các trạng thái nghiệp vụ cần thống nhất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C6DBB-5E5E-4085-93B9-387F6F5D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Mỗi đối tượng có vòng đời riêng; dashboard chỉ đúng khi các state được cập nhật nhất quán.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B5911-3493-4393-B519-7254B30F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BE8D1-2933-4877-A728-A3F0EFC4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493F2-D887-4A0B-9B40-0E5D23E3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Phiếu Sale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4A215-E911-4E0B-BC2C-40E83231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Pending -&gt; Activated / Rejected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E596B-BF98-4512-9419-6719464E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B7A64-03CD-4A5C-AFC0-A1DF6A10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Khách hàng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C4728-9AF0-4D58-AC69-EF2C4F68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9082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Pending -&gt; Active -&gt; Suspended / Churned / Inactive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FB309-0BEC-4B39-87D5-EFA2467D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6707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D1162-5D40-4F57-86CC-0D6240C8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Hợp đồng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F4CE1-EEE1-4448-AE7A-2AE5B3A9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0520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Active -&gt; ExpiringSoon -&gt; Expired / Cancelled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B06C2A-4C06-47B7-9E19-30DAFECC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131CA-80DE-4476-BE42-6368DD40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Dịch vụ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63E94-3D84-48A9-99C3-4C1EC6FE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2195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Pending -&gt; Active -&gt; ExpiringSoon -&gt; Expired / Cancelled / Suspended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8E6F45-B5DA-4E0A-BCAE-92F3B3FB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95825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EC2AB-4266-4483-A2B3-9DD5509E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33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Phiếu hủy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794842-335F-44A1-88C7-DB0C0AA2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9339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Draft -&gt; Submitted -&gt; Synced / SyncFailed -&gt; Completed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C3622-E8A0-45B7-93CF-307C913B3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77626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22A6A-8D8E-48ED-A34B-BFE76F4D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1FB50-0FD8-4912-AE58-9F6EA5F7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ERD nhìn theo 4 cụm chính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8DC7F-7B34-46A9-B8CA-BA1BDEF5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Tách cụm dữ liệu giúp review ownership, rule cập nhật và báo cáo dễ hơn.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B2BC2-F67B-4693-A451-7CDC7FA4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688BF-B0CF-4F25-A843-7535FDF3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EC732-031F-44D3-82F4-0985A466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47650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CX Core</a:t>
            </a:r>
          </a:p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`cx_customers`, `cx_contracts`, `cx_services`, `cx_requests`.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D01DA-D963-4058-A8B8-2A789495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2952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Cancellation</a:t>
            </a:r>
          </a:p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`cancellations`, `cancellation_details`, brand, CP, nhà mạng, provider.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5BA72D-403C-4515-8CFB-946977AF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71700"/>
            <a:ext cx="29527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Audit &amp; Config</a:t>
            </a:r>
          </a:p>
          <a:p xmlns:a="http://schemas.openxmlformats.org/drawingml/2006/main">
            <a:pPr>
              <a:defRPr sz="1050">
                <a:solidFill>
                  <a:srgbClr val="0F172A"/>
                </a:solidFill>
              </a:defRPr>
            </a:pPr>
            <a:r>
              <a:rPr sz="1050">
                <a:solidFill>
                  <a:srgbClr val="0F172A"/>
                </a:solidFill>
              </a:rPr>
              <a:t>`cx_activity_logs`, `cx_config`, cấu hình trạng thái/kênh/dashboard.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7B9F1-E792-4844-BF4C-D72240C1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71950"/>
            <a:ext cx="60960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Reporting View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`vw_cx_services_details` tổng hợp service, contract và effective_service_end.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9DCAE-1F3D-4A2D-862E-F1D8C59C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61975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Cần chốt rule `effective_service_end`: BA ưu tiên khung hợp đồng; view hiện tại đang dùng COALESCE giữa ngày gói/service/contract.</a:t>
            </a:r>
          </a:p>
        </p:txBody>
      </p:sp>
    </p:spTree>
    <p:extLst>
      <p:ext uri="{BB962C8B-B14F-4D97-AF65-F5344CB8AC3E}">
        <p14:creationId xmlns:p14="http://schemas.microsoft.com/office/powerpoint/2010/main" val="7029438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388D0B-48BD-4D3A-BED8-365C3B07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KIẾN TRÚC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E9D8BF-05F9-4252-BEDE-A4DC9FF5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Các thành phần triển khai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86B89-FA59-4672-8035-E0E0488C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Ứng dụng hiện hữu chạy trên Next.js với server actions/API routes và Supabase làm nguồn dữ liệu chính.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52176-EEFD-47DD-872A-01453509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4EDFC-7CBA-4371-80F1-0D9D8126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9124F-24A7-43B7-A5CB-1FD427BE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2000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Next.js App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Màn hình vận hành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75ED6-765B-4F71-BBBE-36DF967D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81250"/>
            <a:ext cx="2000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Server Actions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cx-actions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23EBD-90AD-4BF0-8C0E-AC9DB824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000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Supabase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Postgres +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49C735-6F67-4918-9009-F1DD4D7E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95750"/>
            <a:ext cx="2381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API Routes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cancellations / reports / cron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EBBDC-935B-4EED-BFF6-B6EB3B87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95750"/>
            <a:ext cx="2381250" cy="8572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Google Sheets Sync</a:t>
            </a:r>
          </a:p>
          <a:p xmlns:a="http://schemas.openxmlformats.org/drawingml/2006/main"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Apps Script</a:t>
            </a:r>
          </a:p>
        </p:txBody>
      </p:sp>
      <p:cxnSp>
        <p:nvCxnSpPr>
          <p:cNvPr id="2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67050" y="2809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734050" y="2809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9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115050" y="3238500"/>
            <a:ext cx="1285875" cy="1285875"/>
          </a:xfrm>
          <a:prstGeom xmlns:a="http://schemas.openxmlformats.org/drawingml/2006/main" prst="bentConnector4">
            <a:avLst>
              <a:gd name="adj1" fmla="val 17778"/>
              <a:gd name="adj2" fmla="val 82222"/>
            </a:avLst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115050" y="4524375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1D08DE-1E63-4CEE-B236-6CB690AE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Cron auto-renew gọi API có kiểm tra `CRON_SECRET`; khi hợp lệ sẽ xử lý hợp đồng tự động gia hạn trong ngưỡng 7 ngày.</a:t>
            </a:r>
          </a:p>
        </p:txBody>
      </p:sp>
    </p:spTree>
    <p:extLst>
      <p:ext uri="{BB962C8B-B14F-4D97-AF65-F5344CB8AC3E}">
        <p14:creationId xmlns:p14="http://schemas.microsoft.com/office/powerpoint/2010/main" val="2248452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A8C0D-112C-4249-9AB4-69410F82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ĐIỂM CẦN CHỐT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7D242-6584-49B0-A76F-A1247389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Open questions trước khi UAT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5A44F-886E-4E35-96FA-4591CD75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Các câu hỏi này nên được đóng bằng quyết định BA/PO để tránh lệch rule trong triển khai.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A3559-91E3-4231-812C-C35A685A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F9BAC-5E0D-414A-B404-215F2AAC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1E36D-52B6-41A8-9D10-947D5B3F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29DE5-29BC-4BDE-B9AF-2936D6EB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33600"/>
            <a:ext cx="958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Danh mục channel chuẩn và mapping với các màn hình/report.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F877D-2335-4E5C-9EAA-A873EDF0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E79DA-B5BF-49A0-89E0-6E74727A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57475"/>
            <a:ext cx="958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Danh mục `package_type`, `usage_method`, `term_type` và rule bắt buộc theo từng channel.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72FDF-3789-41CB-B0CF-C4C9B749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1ABE64-1CB7-4CD2-A64F-FCA2F868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81350"/>
            <a:ext cx="958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Cách xử lý dịch vụ nhiều channel hoặc một hợp đồng có nhiều gói hiệu lực khác nhau.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8A224-1ACA-4BAC-9C81-A6392646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81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657D8-666E-4936-ACC7-A4E91E7B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958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Rule ngày hiệu lực cuối cùng giữa hợp đồng, gói dịch vụ và service-level end date.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27B40-C313-4B6B-AB87-3032A702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5C660-DADA-44DD-84A1-51924CC6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958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</a:defRPr>
            </a:pPr>
            <a:r>
              <a:rPr sz="1350" b="0">
                <a:solidFill>
                  <a:srgbClr val="0F172A"/>
                </a:solidFill>
              </a:rPr>
              <a:t>Trọng số workload SUP và tiêu chí cảnh báo dữ liệu thiếu/sai trên dashboard.</a:t>
            </a:r>
          </a:p>
        </p:txBody>
      </p:sp>
    </p:spTree>
    <p:extLst>
      <p:ext uri="{BB962C8B-B14F-4D97-AF65-F5344CB8AC3E}">
        <p14:creationId xmlns:p14="http://schemas.microsoft.com/office/powerpoint/2010/main" val="16585580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E3447-8AF4-4C3D-8140-24ACE412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563EB"/>
                </a:solidFill>
              </a:defRPr>
            </a:pPr>
            <a:r>
              <a:rPr sz="900" b="1">
                <a:solidFill>
                  <a:srgbClr val="2563EB"/>
                </a:solidFill>
              </a:rPr>
              <a:t>CÁCH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4714D-FCAE-4F1E-8686-9BB3FD43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Đề xuất trình chiếu nội bộ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1D5E1-3042-4FC8-B782-EDC8F1E4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Đi theo luồng nghiệp vụ trước, sau đó mới chốt state, dữ liệu và câu hỏi mở.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011C2-F896-427C-B9E4-DDC07F00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CX All-in-one / Review nội bộ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D36B0-D0B4-45B7-86A9-57EDBA00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62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9E93C-DE94-44D2-9A47-C9AA6D62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3143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1. Duyệt luồng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Xác nhận thứ tự Sale -&gt; CS -&gt; SUP -&gt; Dashboard -&gt; Cancellation đúng với vận hành thực tế.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BBB17-D590-4C2A-ACD0-973FF79C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3143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2. Duyệt rule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Chốt ngày hiệu lực, trạng thái, hủy brandname, gia hạn và cảnh báo dashboard.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0CA7E-904D-447E-AA33-82F58E3D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90750"/>
            <a:ext cx="3143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3. Duyệt dữ liệu</a:t>
            </a:r>
          </a:p>
          <a:p xmlns:a="http://schemas.openxmlformats.org/drawingml/2006/main">
            <a:pPr>
              <a:defRPr sz="1125">
                <a:solidFill>
                  <a:srgbClr val="0F172A"/>
                </a:solidFill>
              </a:defRPr>
            </a:pPr>
            <a:r>
              <a:rPr sz="1125">
                <a:solidFill>
                  <a:srgbClr val="0F172A"/>
                </a:solidFill>
              </a:rPr>
              <a:t>Kiểm tra thiếu trường, mapping dashboard, view báo cáo và log/audit cần giữ.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B50E3-6BFF-4D6A-8E94-3B9F2E93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244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Sau review, bản MD chi tiết nên được cập nhật theo quyết định cuối cùng rồi mới dùng làm baseline UAT.</a:t>
            </a:r>
          </a:p>
        </p:txBody>
      </p:sp>
    </p:spTree>
    <p:extLst>
      <p:ext uri="{BB962C8B-B14F-4D97-AF65-F5344CB8AC3E}">
        <p14:creationId xmlns:p14="http://schemas.microsoft.com/office/powerpoint/2010/main" val="1668211480"/>
      </p:ext>
    </p:extLst>
  </p:cSld>
</p:sld>
</file>

<file path=ppt/theme/theme1.xml><?xml version="1.0" encoding="utf-8"?>
<a:theme xmlns:a="http://schemas.openxmlformats.org/drawingml/2006/main" name="ChatGPT">
  <a:themeElements>
    <a:clrScheme name="CX Review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X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2026-07-31T04:31:55.0410000Z</dcterms:created>
  <dcterms:modified xsi:type="dcterms:W3CDTF">2026-07-31T04:31:55.0410000Z</dcterms:modified>
</coreProperties>
</file>